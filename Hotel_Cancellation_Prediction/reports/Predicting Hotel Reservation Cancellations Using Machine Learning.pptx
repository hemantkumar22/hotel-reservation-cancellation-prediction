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AD11E-191D-4CD1-B70C-36C4BFE73B48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7A0E3C4F-A279-4662-80A2-F5FAABB81BA1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47438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AD11E-191D-4CD1-B70C-36C4BFE73B48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E3C4F-A279-4662-80A2-F5FAABB81BA1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3955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AD11E-191D-4CD1-B70C-36C4BFE73B48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E3C4F-A279-4662-80A2-F5FAABB81BA1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9110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AD11E-191D-4CD1-B70C-36C4BFE73B48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E3C4F-A279-4662-80A2-F5FAABB81BA1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4627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AD11E-191D-4CD1-B70C-36C4BFE73B48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E3C4F-A279-4662-80A2-F5FAABB81BA1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091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AD11E-191D-4CD1-B70C-36C4BFE73B48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E3C4F-A279-4662-80A2-F5FAABB81BA1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886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AD11E-191D-4CD1-B70C-36C4BFE73B48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E3C4F-A279-4662-80A2-F5FAABB81B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94152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AD11E-191D-4CD1-B70C-36C4BFE73B48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E3C4F-A279-4662-80A2-F5FAABB81BA1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36923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6F7AD11E-191D-4CD1-B70C-36C4BFE73B48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E3C4F-A279-4662-80A2-F5FAABB81BA1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1001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AD11E-191D-4CD1-B70C-36C4BFE73B48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E3C4F-A279-4662-80A2-F5FAABB81BA1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14654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AD11E-191D-4CD1-B70C-36C4BFE73B48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E3C4F-A279-4662-80A2-F5FAABB81BA1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71893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7AD11E-191D-4CD1-B70C-36C4BFE73B48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7A0E3C4F-A279-4662-80A2-F5FAABB81BA1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2459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EE59E-3D44-4944-EF0E-780F0CA00D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48242" y="1019115"/>
            <a:ext cx="7706609" cy="1912622"/>
          </a:xfrm>
        </p:spPr>
        <p:txBody>
          <a:bodyPr>
            <a:normAutofit/>
          </a:bodyPr>
          <a:lstStyle/>
          <a:p>
            <a:r>
              <a:rPr lang="en-US" sz="4000" dirty="0"/>
              <a:t>Predicting Hotel Reservation Cancellations Using Machine Learning</a:t>
            </a:r>
            <a:endParaRPr lang="en-IN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48F3B6-CE96-AC1F-D395-C0973A39CCA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b="1" dirty="0"/>
              <a:t>Presented by:</a:t>
            </a:r>
            <a:br>
              <a:rPr lang="en-IN" dirty="0"/>
            </a:br>
            <a:r>
              <a:rPr lang="en-IN" dirty="0"/>
              <a:t>Hemant Kumar KB</a:t>
            </a:r>
          </a:p>
        </p:txBody>
      </p:sp>
    </p:spTree>
    <p:extLst>
      <p:ext uri="{BB962C8B-B14F-4D97-AF65-F5344CB8AC3E}">
        <p14:creationId xmlns:p14="http://schemas.microsoft.com/office/powerpoint/2010/main" val="16415529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66688-4A38-F55F-7043-4FB8EE8CF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Problem Statement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42ACE-C994-2D8F-6855-30AD742393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Hotel reservation cancellations lead to revenue and operational losses.</a:t>
            </a:r>
          </a:p>
          <a:p>
            <a:r>
              <a:rPr lang="en-US" dirty="0"/>
              <a:t>Uncertain bookings affect pricing, staffing, and room allocation.</a:t>
            </a:r>
          </a:p>
          <a:p>
            <a:r>
              <a:rPr lang="en-US" b="1" dirty="0"/>
              <a:t>Goal:</a:t>
            </a:r>
            <a:br>
              <a:rPr lang="en-US" dirty="0"/>
            </a:br>
            <a:r>
              <a:rPr lang="en-US" dirty="0"/>
              <a:t>Predict whether a booking will be </a:t>
            </a:r>
            <a:r>
              <a:rPr lang="en-US" b="1" dirty="0"/>
              <a:t>Cancelled or Not Cancelled</a:t>
            </a:r>
            <a:r>
              <a:rPr lang="en-US" dirty="0"/>
              <a:t> using machine learning.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205587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1D93A-F6CF-A730-F235-B635E69B4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Business Impact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5F75ED9-B137-548B-0A34-5062B2AE174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51579" y="2276781"/>
            <a:ext cx="6198172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Revenue Optimization: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Dynamic pricing &amp; overbooking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Resource Management: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Better staff &amp; inventory planning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 Insights: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Identify high-risk bookings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Retention Strategies: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Proactive cancellation prevention</a:t>
            </a:r>
          </a:p>
        </p:txBody>
      </p:sp>
    </p:spTree>
    <p:extLst>
      <p:ext uri="{BB962C8B-B14F-4D97-AF65-F5344CB8AC3E}">
        <p14:creationId xmlns:p14="http://schemas.microsoft.com/office/powerpoint/2010/main" val="2318996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64C32-96A0-01A2-5A06-F69E1FA96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BBB446-76F6-FD05-34CA-87BBCE007D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Dataset:</a:t>
            </a:r>
            <a:r>
              <a:rPr lang="en-US" dirty="0"/>
              <a:t> Hotel Reservations Dataset</a:t>
            </a:r>
          </a:p>
          <a:p>
            <a:r>
              <a:rPr lang="en-US" b="1" dirty="0"/>
              <a:t>Records:</a:t>
            </a:r>
            <a:r>
              <a:rPr lang="en-US" dirty="0"/>
              <a:t> ~36,000+</a:t>
            </a:r>
          </a:p>
          <a:p>
            <a:r>
              <a:rPr lang="en-US" b="1" dirty="0"/>
              <a:t>Target Variable:</a:t>
            </a:r>
            <a:r>
              <a:rPr lang="en-US" dirty="0"/>
              <a:t> </a:t>
            </a:r>
            <a:r>
              <a:rPr lang="en-US" dirty="0" err="1"/>
              <a:t>booking_status</a:t>
            </a:r>
            <a:endParaRPr lang="en-US" dirty="0"/>
          </a:p>
          <a:p>
            <a:pPr lvl="1"/>
            <a:r>
              <a:rPr lang="en-US" dirty="0"/>
              <a:t>0 → Not Cancelled</a:t>
            </a:r>
          </a:p>
          <a:p>
            <a:pPr lvl="1"/>
            <a:r>
              <a:rPr lang="en-US" dirty="0"/>
              <a:t>1 → Cancelled</a:t>
            </a:r>
          </a:p>
          <a:p>
            <a:r>
              <a:rPr lang="en-US" b="1" dirty="0"/>
              <a:t>Features Include</a:t>
            </a:r>
            <a:endParaRPr lang="en-US" dirty="0"/>
          </a:p>
          <a:p>
            <a:r>
              <a:rPr lang="en-US" dirty="0"/>
              <a:t>Lead time, price, nights</a:t>
            </a:r>
          </a:p>
          <a:p>
            <a:r>
              <a:rPr lang="en-US" dirty="0"/>
              <a:t>Guest details</a:t>
            </a:r>
          </a:p>
          <a:p>
            <a:r>
              <a:rPr lang="en-US" dirty="0"/>
              <a:t>Market segment &amp; loyalty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97550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B480E-FA8E-2C5C-0143-F13CF89A2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EDA Insights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E1A9E7C-E0FC-1B51-548A-85B5B02CC41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51579" y="2069722"/>
            <a:ext cx="5203745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~33% of bookings are cancelled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Higher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lead time → higher cancellation risk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Longer stays and certain market segments cancel more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Repeated guests are less likely to cancel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38B9D7-91C7-2F53-9CCF-A2557EDDFE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9115" y="1962689"/>
            <a:ext cx="5314950" cy="3743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2103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28CE8-2DB0-180D-3AA2-C91FAF0DC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Preprocessing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763DBB8-F8F6-E8B4-C644-50B4CBD1A84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51579" y="2369735"/>
            <a:ext cx="5121915" cy="21185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Target encoding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 engineering (total guests, total nights)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One-hot encoding for categorical variables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 scaling 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StandardScaler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Train–test split (80:20, stratified)</a:t>
            </a:r>
          </a:p>
        </p:txBody>
      </p:sp>
    </p:spTree>
    <p:extLst>
      <p:ext uri="{BB962C8B-B14F-4D97-AF65-F5344CB8AC3E}">
        <p14:creationId xmlns:p14="http://schemas.microsoft.com/office/powerpoint/2010/main" val="32065642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9370-9530-9C12-B3F4-868519F29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Machine Learning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452458-7551-04E9-B672-ADF9D842B6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Models Used</a:t>
            </a:r>
            <a:endParaRPr lang="en-US" dirty="0"/>
          </a:p>
          <a:p>
            <a:r>
              <a:rPr lang="en-US" dirty="0"/>
              <a:t>Logistic Regression (baseline)</a:t>
            </a:r>
          </a:p>
          <a:p>
            <a:r>
              <a:rPr lang="en-US" dirty="0"/>
              <a:t>Decision Tree</a:t>
            </a:r>
          </a:p>
          <a:p>
            <a:r>
              <a:rPr lang="en-US" dirty="0"/>
              <a:t>Random Forest</a:t>
            </a:r>
          </a:p>
          <a:p>
            <a:r>
              <a:rPr lang="en-US" b="1" dirty="0"/>
              <a:t>Evaluation Metrics</a:t>
            </a:r>
            <a:endParaRPr lang="en-US" dirty="0"/>
          </a:p>
          <a:p>
            <a:r>
              <a:rPr lang="en-US" dirty="0"/>
              <a:t>Accuracy</a:t>
            </a:r>
          </a:p>
          <a:p>
            <a:r>
              <a:rPr lang="en-US" dirty="0"/>
              <a:t>Precision, Recall, F1-Score</a:t>
            </a:r>
          </a:p>
          <a:p>
            <a:r>
              <a:rPr lang="en-US" dirty="0"/>
              <a:t>Confusion Matrix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744851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5327F-1AA7-20EA-5FD5-145D6F2CC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Model Comparison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F174C97-D353-09D4-30F6-B60057706C0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51580" y="2893092"/>
            <a:ext cx="3742590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Logistic Regression → baseline performance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Decision Tree → captures non-linear patterns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 Forest → best overall performance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6825AA-37D5-B34B-2B53-6696D322B4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4770" y="2116808"/>
            <a:ext cx="5380084" cy="3449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7080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CFCC4-D3F7-762F-6B64-8888F2C14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Final Model &amp; Tuning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200E43-84E6-B735-ACB7-9DA8A9D043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Hyperparameter tuning using </a:t>
            </a:r>
            <a:r>
              <a:rPr lang="en-US" b="1" dirty="0" err="1"/>
              <a:t>GridSearchCV</a:t>
            </a:r>
            <a:endParaRPr lang="en-US" dirty="0"/>
          </a:p>
          <a:p>
            <a:r>
              <a:rPr lang="en-US" dirty="0"/>
              <a:t>Improved accuracy and generalization</a:t>
            </a:r>
          </a:p>
          <a:p>
            <a:r>
              <a:rPr lang="en-US" b="1" dirty="0"/>
              <a:t>Final Model:</a:t>
            </a:r>
            <a:r>
              <a:rPr lang="en-US" dirty="0"/>
              <a:t> Tuned Random Forest Classifier</a:t>
            </a:r>
          </a:p>
          <a:p>
            <a:r>
              <a:rPr lang="en-US" b="1" dirty="0"/>
              <a:t>Result:</a:t>
            </a:r>
            <a:br>
              <a:rPr lang="en-US" dirty="0"/>
            </a:br>
            <a:r>
              <a:rPr lang="en-US" dirty="0"/>
              <a:t>Reliable prediction of booking cancellations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78154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10572-D922-7732-02C8-E6234E179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 &amp; 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938DD3-1526-C933-65B8-A97C3521FA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Conclusion</a:t>
            </a:r>
            <a:endParaRPr lang="en-US" dirty="0"/>
          </a:p>
          <a:p>
            <a:r>
              <a:rPr lang="en-US" dirty="0"/>
              <a:t>Machine learning effectively predicts hotel cancellations</a:t>
            </a:r>
          </a:p>
          <a:p>
            <a:r>
              <a:rPr lang="en-US" dirty="0"/>
              <a:t>Helps improve revenue and operational planning</a:t>
            </a:r>
          </a:p>
          <a:p>
            <a:r>
              <a:rPr lang="en-US" b="1" dirty="0"/>
              <a:t>Future Scope</a:t>
            </a:r>
            <a:endParaRPr lang="en-US" dirty="0"/>
          </a:p>
          <a:p>
            <a:r>
              <a:rPr lang="en-US" dirty="0"/>
              <a:t>Real-time deployment</a:t>
            </a:r>
          </a:p>
          <a:p>
            <a:r>
              <a:rPr lang="en-US" dirty="0"/>
              <a:t>Advanced models (</a:t>
            </a:r>
            <a:r>
              <a:rPr lang="en-US" dirty="0" err="1"/>
              <a:t>XGBoost</a:t>
            </a:r>
            <a:r>
              <a:rPr lang="en-US" dirty="0"/>
              <a:t>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44698912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11</TotalTime>
  <Words>283</Words>
  <Application>Microsoft Office PowerPoint</Application>
  <PresentationFormat>Widescreen</PresentationFormat>
  <Paragraphs>57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Gill Sans MT</vt:lpstr>
      <vt:lpstr>Gallery</vt:lpstr>
      <vt:lpstr>Predicting Hotel Reservation Cancellations Using Machine Learning</vt:lpstr>
      <vt:lpstr>Problem Statement </vt:lpstr>
      <vt:lpstr>Business Impact</vt:lpstr>
      <vt:lpstr>Dataset Overview</vt:lpstr>
      <vt:lpstr>Key EDA Insights</vt:lpstr>
      <vt:lpstr>Data Preprocessing</vt:lpstr>
      <vt:lpstr>Machine Learning Models</vt:lpstr>
      <vt:lpstr>Model Comparison</vt:lpstr>
      <vt:lpstr>Final Model &amp; Tuning</vt:lpstr>
      <vt:lpstr>Conclusion &amp; Future Scope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Hemant Kumar</dc:creator>
  <cp:lastModifiedBy>Hemant Kumar</cp:lastModifiedBy>
  <cp:revision>1</cp:revision>
  <dcterms:created xsi:type="dcterms:W3CDTF">2025-12-24T13:11:03Z</dcterms:created>
  <dcterms:modified xsi:type="dcterms:W3CDTF">2025-12-24T13:22:57Z</dcterms:modified>
</cp:coreProperties>
</file>